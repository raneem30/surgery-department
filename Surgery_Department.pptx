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886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Raneem30/Surgery-department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Raneem30/Surgery-departme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2608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7315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274320" y="21945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74320" y="301752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CSCI305 – Database Systems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4320" y="3383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Ahmed Hisham Qandil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74320" y="384048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Maryam Ali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74320" y="40416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Gehad Maher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74320" y="424281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Raneem Khaled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74320" y="44439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Hany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74320" y="46451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Tasnim Maged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200400" y="11887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INFORMATION SYSTEM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200400" y="164592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Department</a:t>
            </a:r>
            <a:endParaRPr lang="en-US" sz="4200" dirty="0"/>
          </a:p>
        </p:txBody>
      </p:sp>
      <p:sp>
        <p:nvSpPr>
          <p:cNvPr id="17" name="Text 14"/>
          <p:cNvSpPr/>
          <p:nvPr/>
        </p:nvSpPr>
        <p:spPr>
          <a:xfrm>
            <a:off x="3200400" y="274320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Database-Driven Healthcare Management Platform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Surgical Workflow Automation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200400" y="3657600"/>
            <a:ext cx="169164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200400" y="37490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Tables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200400" y="4160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120640" y="3657600"/>
            <a:ext cx="169164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120640" y="37490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Entities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120640" y="4160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Models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040880" y="3657600"/>
            <a:ext cx="169164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040880" y="37490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040880" y="4160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UI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" y="914400"/>
            <a:ext cx="1572768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" y="914400"/>
            <a:ext cx="1572768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7784" y="11430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7784" y="1170432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7160" y="201168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3317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Maryam Ali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" y="28346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324612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231000810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01368" y="914400"/>
            <a:ext cx="1572768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801368" y="914400"/>
            <a:ext cx="1572768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21992" y="1143000"/>
            <a:ext cx="731520" cy="7315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21992" y="1170432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801368" y="201168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92808" y="23317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Gehad Maher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01368" y="28346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92808" y="324612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231000894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65576" y="914400"/>
            <a:ext cx="1572768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65576" y="914400"/>
            <a:ext cx="1572768" cy="7315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86200" y="114300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86200" y="1170432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465576" y="201168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57016" y="23317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Raneem Khaled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65576" y="28346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57016" y="324612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231001424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129784" y="914400"/>
            <a:ext cx="1572768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129784" y="914400"/>
            <a:ext cx="1572768" cy="731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550408" y="1143000"/>
            <a:ext cx="731520" cy="73152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550408" y="1170432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129784" y="201168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21224" y="23317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Hany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29784" y="28346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21224" y="324612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231001623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93992" y="914400"/>
            <a:ext cx="1572768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793992" y="914400"/>
            <a:ext cx="1572768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214616" y="114300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214616" y="1170432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793992" y="201168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85432" y="23317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Tasnim Maged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793992" y="28346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85432" y="324612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231000173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1005840"/>
            <a:ext cx="64008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280160"/>
            <a:ext cx="1371600" cy="1371600"/>
          </a:xfrm>
          <a:prstGeom prst="rect">
            <a:avLst/>
          </a:prstGeom>
        </p:spPr>
      </p:pic>
      <p:sp>
        <p:nvSpPr>
          <p:cNvPr id="7" name="Text 4">
            <a:hlinkClick r:id="rId4"/>
          </p:cNvPr>
          <p:cNvSpPr/>
          <p:nvPr/>
        </p:nvSpPr>
        <p:spPr>
          <a:xfrm>
            <a:off x="1554480" y="27889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github.com/Raneem30/Surgery-department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333756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database-driven Hospital Information System for the Surgery Department featuring ERD design,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mapping, SQL implementation, patient management, OR scheduling, appointments, rooms, and reports.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498080" y="1005840"/>
            <a:ext cx="13716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49808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972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10058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37360" y="135331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goals, scope, and department rationale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65760" y="192024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2920" y="20116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1031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37360" y="20116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One — Database Design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737360" y="23591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ERD, relational schema, primary/foreign keys, SQL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5760" y="292608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65760" y="2926080"/>
            <a:ext cx="54864" cy="8229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02920" y="30175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1089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37360" y="30175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Two — Application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737360" y="336499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prototype, features and UI modules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365760" y="3931920"/>
            <a:ext cx="54864" cy="8229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502920" y="40233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11480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737360" y="40233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Conclusion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737360" y="437083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Solutions, benefits, and acknowledgements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Surgery Department?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multi-entity surgical workflows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96596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Doctors, OR rooms, patients, medications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56032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scope of relational database design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15468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724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most critical hospital operations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4754880" y="1005840"/>
            <a:ext cx="20116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4754880" y="1005840"/>
            <a:ext cx="201168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4754880" y="1143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2800" dirty="0"/>
          </a:p>
        </p:txBody>
      </p:sp>
      <p:sp>
        <p:nvSpPr>
          <p:cNvPr id="17" name="Text 11"/>
          <p:cNvSpPr/>
          <p:nvPr/>
        </p:nvSpPr>
        <p:spPr>
          <a:xfrm>
            <a:off x="484632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949440" y="1005840"/>
            <a:ext cx="20116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6949440" y="1005840"/>
            <a:ext cx="201168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949440" y="1143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21" name="Text 15"/>
          <p:cNvSpPr/>
          <p:nvPr/>
        </p:nvSpPr>
        <p:spPr>
          <a:xfrm>
            <a:off x="704088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754880" y="2286000"/>
            <a:ext cx="20116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4754880" y="2286000"/>
            <a:ext cx="2011680" cy="640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4754880" y="2423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</a:t>
            </a:r>
            <a:endParaRPr lang="en-US" sz="2800" dirty="0"/>
          </a:p>
        </p:txBody>
      </p:sp>
      <p:sp>
        <p:nvSpPr>
          <p:cNvPr id="25" name="Text 19"/>
          <p:cNvSpPr/>
          <p:nvPr/>
        </p:nvSpPr>
        <p:spPr>
          <a:xfrm>
            <a:off x="484632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Resolved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949440" y="2286000"/>
            <a:ext cx="20116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6949440" y="2286000"/>
            <a:ext cx="2011680" cy="6400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6949440" y="2423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2800" dirty="0"/>
          </a:p>
        </p:txBody>
      </p:sp>
      <p:sp>
        <p:nvSpPr>
          <p:cNvPr id="29" name="Text 23"/>
          <p:cNvSpPr/>
          <p:nvPr/>
        </p:nvSpPr>
        <p:spPr>
          <a:xfrm>
            <a:off x="704088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Prototype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solidFill>
            <a:srgbClr val="E0F7FA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workflows involve the most complex multi-department coordination in a hospital — making it the ideal subject for a comprehensive database-driven system.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194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ONE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0" y="274320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3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Implementation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 ·  Relational Schema  ·  SQL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 (ERD)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60350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ERD Diagram  ]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ERD screenshot here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20840" y="868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20840" y="13533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20840" y="183794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20840" y="23225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20840" y="28072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20840" y="3291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20840" y="37764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20840" y="426110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49210CE-C7CD-BFBC-6CC2-CF670DAC6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8" y="779689"/>
            <a:ext cx="9066438" cy="4191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Mapping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5943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5943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Relational Schema Diagram  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schema mapping screenshot here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92240" y="960120"/>
            <a:ext cx="2423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92240" y="96012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024128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95160" y="987552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entities become tables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92240" y="1920240"/>
            <a:ext cx="2423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492240" y="1920240"/>
            <a:ext cx="54864" cy="7772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984248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95160" y="1947672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 relationships become junction tables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92240" y="2880360"/>
            <a:ext cx="2423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92240" y="2880360"/>
            <a:ext cx="54864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944368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95160" y="2907792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connect related tables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92240" y="3840480"/>
            <a:ext cx="2423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492240" y="384048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904488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95160" y="3867912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keys represent relationship tables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2DF4060-2CD0-BBE2-9C0C-38CA5FDBEE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815" y="832756"/>
            <a:ext cx="6037490" cy="40135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&amp; Foreign Keys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86968"/>
            <a:ext cx="411480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8869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" y="1325880"/>
            <a:ext cx="4114800" cy="2377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11480" y="132588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Patient → patient_number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4320" y="1563624"/>
            <a:ext cx="4114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11480" y="156362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Doctor → doctor_id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1801368"/>
            <a:ext cx="4114800" cy="2377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11480" y="180136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Department → department_code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4320" y="2039112"/>
            <a:ext cx="4114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11480" y="203911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Hospital → hospital_id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2276856"/>
            <a:ext cx="4114800" cy="2377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11480" y="227685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Room → room_id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4320" y="2514600"/>
            <a:ext cx="4114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11480" y="25146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Appointment → appointment_id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74320" y="2752344"/>
            <a:ext cx="4114800" cy="2377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11480" y="27523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Surgery_Case → case_id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74320" y="2990088"/>
            <a:ext cx="4114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11480" y="29900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Prescription → prescription_id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74320" y="3227832"/>
            <a:ext cx="4114800" cy="2377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11480" y="322783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Payment → payment_id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74320" y="3465576"/>
            <a:ext cx="4114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11480" y="34655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Medication → medication_id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74320" y="3703320"/>
            <a:ext cx="4114800" cy="2377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11480" y="37033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Surgery_Schedule → schedule_id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3941064"/>
            <a:ext cx="4114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11480" y="394106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Scan_Document → scan_id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274320" y="4178808"/>
            <a:ext cx="4114800" cy="2377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11480" y="417880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Users → user_id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754880" y="868680"/>
            <a:ext cx="41148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754880" y="868680"/>
            <a:ext cx="411480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960120"/>
            <a:ext cx="292608" cy="29260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5257800" y="8869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</a:t>
            </a:r>
            <a:endParaRPr lang="en-US" sz="1400" dirty="0"/>
          </a:p>
        </p:txBody>
      </p:sp>
      <p:sp>
        <p:nvSpPr>
          <p:cNvPr id="39" name="Shape 35"/>
          <p:cNvSpPr/>
          <p:nvPr/>
        </p:nvSpPr>
        <p:spPr>
          <a:xfrm>
            <a:off x="4754880" y="1325880"/>
            <a:ext cx="4114800" cy="2377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4892040" y="132588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Doctor.department_code → Department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4754880" y="1563624"/>
            <a:ext cx="4114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4892040" y="156362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Department.hospital_id → Hospital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4754880" y="1801368"/>
            <a:ext cx="4114800" cy="2377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4892040" y="180136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Department.chairman_doctor_id → Doctor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4754880" y="2039112"/>
            <a:ext cx="4114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4892040" y="203911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Room.hospital_id → Hospital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4754880" y="2276856"/>
            <a:ext cx="4114800" cy="2377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4892040" y="227685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Appointment.patient_number → Patient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4754880" y="2514600"/>
            <a:ext cx="4114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6"/>
          <p:cNvSpPr/>
          <p:nvPr/>
        </p:nvSpPr>
        <p:spPr>
          <a:xfrm>
            <a:off x="4892040" y="25146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Appointment.doctor_id → Doctor</a:t>
            </a:r>
            <a:endParaRPr 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4754880" y="2752344"/>
            <a:ext cx="4114800" cy="2377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8"/>
          <p:cNvSpPr/>
          <p:nvPr/>
        </p:nvSpPr>
        <p:spPr>
          <a:xfrm>
            <a:off x="4892040" y="27523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Appointment.room_id → Room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4754880" y="2990088"/>
            <a:ext cx="4114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4892040" y="29900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Appointment.case_id → Surgery_Case</a:t>
            </a:r>
            <a:endParaRPr lang="en-US" sz="950" dirty="0"/>
          </a:p>
        </p:txBody>
      </p:sp>
      <p:sp>
        <p:nvSpPr>
          <p:cNvPr id="55" name="Shape 51"/>
          <p:cNvSpPr/>
          <p:nvPr/>
        </p:nvSpPr>
        <p:spPr>
          <a:xfrm>
            <a:off x="4754880" y="3227832"/>
            <a:ext cx="4114800" cy="2377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2"/>
          <p:cNvSpPr/>
          <p:nvPr/>
        </p:nvSpPr>
        <p:spPr>
          <a:xfrm>
            <a:off x="4892040" y="322783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Prescription.doctor_id → Doctor</a:t>
            </a:r>
            <a:endParaRPr lang="en-US" sz="950" dirty="0"/>
          </a:p>
        </p:txBody>
      </p:sp>
      <p:sp>
        <p:nvSpPr>
          <p:cNvPr id="57" name="Shape 53"/>
          <p:cNvSpPr/>
          <p:nvPr/>
        </p:nvSpPr>
        <p:spPr>
          <a:xfrm>
            <a:off x="4754880" y="3465576"/>
            <a:ext cx="4114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4"/>
          <p:cNvSpPr/>
          <p:nvPr/>
        </p:nvSpPr>
        <p:spPr>
          <a:xfrm>
            <a:off x="4892040" y="34655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Prescription.patient_number → Patient</a:t>
            </a:r>
            <a:endParaRPr lang="en-US" sz="950" dirty="0"/>
          </a:p>
        </p:txBody>
      </p:sp>
      <p:sp>
        <p:nvSpPr>
          <p:cNvPr id="59" name="Shape 55"/>
          <p:cNvSpPr/>
          <p:nvPr/>
        </p:nvSpPr>
        <p:spPr>
          <a:xfrm>
            <a:off x="4754880" y="3703320"/>
            <a:ext cx="4114800" cy="2377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6"/>
          <p:cNvSpPr/>
          <p:nvPr/>
        </p:nvSpPr>
        <p:spPr>
          <a:xfrm>
            <a:off x="4892040" y="37033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Payment.appointment_id → Appointment</a:t>
            </a:r>
            <a:endParaRPr lang="en-US" sz="950" dirty="0"/>
          </a:p>
        </p:txBody>
      </p:sp>
      <p:sp>
        <p:nvSpPr>
          <p:cNvPr id="61" name="Shape 57"/>
          <p:cNvSpPr/>
          <p:nvPr/>
        </p:nvSpPr>
        <p:spPr>
          <a:xfrm>
            <a:off x="4754880" y="3941064"/>
            <a:ext cx="4114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8"/>
          <p:cNvSpPr/>
          <p:nvPr/>
        </p:nvSpPr>
        <p:spPr>
          <a:xfrm>
            <a:off x="4892040" y="394106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Surgery_Case.patient_number → Patient</a:t>
            </a:r>
            <a:endParaRPr lang="en-US" sz="950" dirty="0"/>
          </a:p>
        </p:txBody>
      </p:sp>
      <p:sp>
        <p:nvSpPr>
          <p:cNvPr id="63" name="Shape 59"/>
          <p:cNvSpPr/>
          <p:nvPr/>
        </p:nvSpPr>
        <p:spPr>
          <a:xfrm>
            <a:off x="4754880" y="4178808"/>
            <a:ext cx="4114800" cy="2377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0"/>
          <p:cNvSpPr/>
          <p:nvPr/>
        </p:nvSpPr>
        <p:spPr>
          <a:xfrm>
            <a:off x="4892040" y="417880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Surgery_Schedule.case_id → Surgery_Case</a:t>
            </a:r>
            <a:endParaRPr lang="en-US" sz="950" dirty="0"/>
          </a:p>
        </p:txBody>
      </p:sp>
      <p:sp>
        <p:nvSpPr>
          <p:cNvPr id="65" name="Shape 30">
            <a:extLst>
              <a:ext uri="{FF2B5EF4-FFF2-40B4-BE49-F238E27FC236}">
                <a16:creationId xmlns:a16="http://schemas.microsoft.com/office/drawing/2014/main" id="{2A1A2AB7-2D8B-11EB-4D04-556D3BA89139}"/>
              </a:ext>
            </a:extLst>
          </p:cNvPr>
          <p:cNvSpPr/>
          <p:nvPr/>
        </p:nvSpPr>
        <p:spPr>
          <a:xfrm>
            <a:off x="274320" y="4416552"/>
            <a:ext cx="4114800" cy="2377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r>
              <a:rPr lang="ar-EG" sz="900" dirty="0"/>
              <a:t>    </a:t>
            </a:r>
            <a:r>
              <a:rPr lang="en-US" sz="900" dirty="0"/>
              <a:t>Treats → (</a:t>
            </a:r>
            <a:r>
              <a:rPr lang="en-US" sz="900" dirty="0" err="1"/>
              <a:t>doctor_id</a:t>
            </a:r>
            <a:r>
              <a:rPr lang="en-US" sz="900" dirty="0"/>
              <a:t>, </a:t>
            </a:r>
            <a:r>
              <a:rPr lang="en-US" sz="900" dirty="0" err="1"/>
              <a:t>patient_number</a:t>
            </a:r>
            <a:r>
              <a:rPr lang="en-US" sz="900" dirty="0"/>
              <a:t>)</a:t>
            </a:r>
          </a:p>
        </p:txBody>
      </p:sp>
      <p:sp>
        <p:nvSpPr>
          <p:cNvPr id="66" name="Shape 8">
            <a:extLst>
              <a:ext uri="{FF2B5EF4-FFF2-40B4-BE49-F238E27FC236}">
                <a16:creationId xmlns:a16="http://schemas.microsoft.com/office/drawing/2014/main" id="{4685BCD4-C381-7184-6B98-3809A0415ADD}"/>
              </a:ext>
            </a:extLst>
          </p:cNvPr>
          <p:cNvSpPr/>
          <p:nvPr/>
        </p:nvSpPr>
        <p:spPr>
          <a:xfrm>
            <a:off x="274320" y="4585716"/>
            <a:ext cx="4114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r>
              <a:rPr lang="ar-EG" sz="900" dirty="0"/>
              <a:t>    </a:t>
            </a:r>
            <a:r>
              <a:rPr lang="en-US" sz="900" dirty="0" err="1"/>
              <a:t>Prescription_Medication</a:t>
            </a:r>
            <a:r>
              <a:rPr lang="en-US" sz="900" dirty="0"/>
              <a:t> → (</a:t>
            </a:r>
            <a:r>
              <a:rPr lang="en-US" sz="900" dirty="0" err="1"/>
              <a:t>prescription_id</a:t>
            </a:r>
            <a:r>
              <a:rPr lang="en-US" sz="900" dirty="0"/>
              <a:t>, </a:t>
            </a:r>
            <a:r>
              <a:rPr lang="en-US" sz="900" dirty="0" err="1"/>
              <a:t>medication_id</a:t>
            </a:r>
            <a:r>
              <a:rPr lang="en-US" sz="900" dirty="0"/>
              <a:t>)</a:t>
            </a:r>
          </a:p>
        </p:txBody>
      </p:sp>
      <p:sp>
        <p:nvSpPr>
          <p:cNvPr id="67" name="Shape 30">
            <a:extLst>
              <a:ext uri="{FF2B5EF4-FFF2-40B4-BE49-F238E27FC236}">
                <a16:creationId xmlns:a16="http://schemas.microsoft.com/office/drawing/2014/main" id="{9181CC0D-A070-9124-3FE4-82A3CFBD301D}"/>
              </a:ext>
            </a:extLst>
          </p:cNvPr>
          <p:cNvSpPr/>
          <p:nvPr/>
        </p:nvSpPr>
        <p:spPr>
          <a:xfrm>
            <a:off x="274320" y="4836849"/>
            <a:ext cx="4114800" cy="2377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r>
              <a:rPr lang="ar-EG" sz="900" dirty="0"/>
              <a:t>    </a:t>
            </a:r>
            <a:r>
              <a:rPr lang="en-US" sz="900" dirty="0" err="1"/>
              <a:t>Surgical_Team_Assignment</a:t>
            </a:r>
            <a:r>
              <a:rPr lang="en-US" sz="900" dirty="0"/>
              <a:t> → (</a:t>
            </a:r>
            <a:r>
              <a:rPr lang="en-US" sz="900" dirty="0" err="1"/>
              <a:t>doctor_id</a:t>
            </a:r>
            <a:r>
              <a:rPr lang="en-US" sz="900" dirty="0"/>
              <a:t>, </a:t>
            </a:r>
            <a:r>
              <a:rPr lang="en-US" sz="900" dirty="0" err="1"/>
              <a:t>case_id</a:t>
            </a:r>
            <a:r>
              <a:rPr lang="en-US" sz="900" dirty="0"/>
              <a:t>)</a:t>
            </a:r>
            <a:r>
              <a:rPr lang="ar-EG" sz="900" dirty="0"/>
              <a:t>  </a:t>
            </a:r>
            <a:endParaRPr lang="en-US" sz="900" dirty="0"/>
          </a:p>
        </p:txBody>
      </p:sp>
      <p:sp>
        <p:nvSpPr>
          <p:cNvPr id="68" name="Shape 57">
            <a:extLst>
              <a:ext uri="{FF2B5EF4-FFF2-40B4-BE49-F238E27FC236}">
                <a16:creationId xmlns:a16="http://schemas.microsoft.com/office/drawing/2014/main" id="{D3CA9461-3522-1246-D261-D8AC3B6064C9}"/>
              </a:ext>
            </a:extLst>
          </p:cNvPr>
          <p:cNvSpPr/>
          <p:nvPr/>
        </p:nvSpPr>
        <p:spPr>
          <a:xfrm>
            <a:off x="4754880" y="4431901"/>
            <a:ext cx="4114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r>
              <a:rPr lang="ar-EG" sz="900" dirty="0"/>
              <a:t>    </a:t>
            </a:r>
            <a:r>
              <a:rPr lang="fr-FR" sz="900" dirty="0" err="1"/>
              <a:t>Scan_Document.patient_number</a:t>
            </a:r>
            <a:r>
              <a:rPr lang="fr-FR" sz="900" dirty="0"/>
              <a:t> → Patient</a:t>
            </a:r>
            <a:endParaRPr lang="en-US" sz="900" dirty="0"/>
          </a:p>
        </p:txBody>
      </p:sp>
      <p:sp>
        <p:nvSpPr>
          <p:cNvPr id="69" name="Shape 59">
            <a:extLst>
              <a:ext uri="{FF2B5EF4-FFF2-40B4-BE49-F238E27FC236}">
                <a16:creationId xmlns:a16="http://schemas.microsoft.com/office/drawing/2014/main" id="{82F87171-DE59-C6C7-014F-6EFBBEC1FFD0}"/>
              </a:ext>
            </a:extLst>
          </p:cNvPr>
          <p:cNvSpPr/>
          <p:nvPr/>
        </p:nvSpPr>
        <p:spPr>
          <a:xfrm>
            <a:off x="4754880" y="4617557"/>
            <a:ext cx="4114800" cy="2377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r>
              <a:rPr lang="ar-EG" sz="900" dirty="0"/>
              <a:t>    </a:t>
            </a:r>
            <a:r>
              <a:rPr lang="en-US" sz="900" dirty="0" err="1"/>
              <a:t>Surgery_Case.procedure_code</a:t>
            </a:r>
            <a:r>
              <a:rPr lang="en-US" sz="900" dirty="0"/>
              <a:t> → </a:t>
            </a:r>
            <a:r>
              <a:rPr lang="en-US" sz="900" dirty="0" err="1"/>
              <a:t>Surgical_Procedure</a:t>
            </a:r>
            <a:endParaRPr lang="en-US" sz="900" dirty="0"/>
          </a:p>
        </p:txBody>
      </p:sp>
      <p:sp>
        <p:nvSpPr>
          <p:cNvPr id="70" name="Shape 57">
            <a:extLst>
              <a:ext uri="{FF2B5EF4-FFF2-40B4-BE49-F238E27FC236}">
                <a16:creationId xmlns:a16="http://schemas.microsoft.com/office/drawing/2014/main" id="{8AB8CBD2-C068-C8F0-83FA-11837ABB9D04}"/>
              </a:ext>
            </a:extLst>
          </p:cNvPr>
          <p:cNvSpPr/>
          <p:nvPr/>
        </p:nvSpPr>
        <p:spPr>
          <a:xfrm>
            <a:off x="4754880" y="4831135"/>
            <a:ext cx="4114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r>
              <a:rPr lang="ar-EG" sz="900" dirty="0"/>
              <a:t>    </a:t>
            </a:r>
            <a:r>
              <a:rPr lang="fr-FR" sz="900" dirty="0" err="1"/>
              <a:t>Users.doctor_id</a:t>
            </a:r>
            <a:r>
              <a:rPr lang="fr-FR" sz="900" dirty="0"/>
              <a:t> → Doctor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Keys &amp; Constraints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1828800" cy="502920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🔑 patient_number + doctor_id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13716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doctor-patient treatment relationships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2103120"/>
            <a:ext cx="1828800" cy="502920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03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Prescription_Medication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🔑 prescription_id + medication_id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23774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table for prescriptions and medications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8412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" y="3108960"/>
            <a:ext cx="1828800" cy="502920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108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Surgical_Team_Assignment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6888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🔑 case_id + doctor_id + role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68880" y="33832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doctors with roles to surgery cases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931920"/>
            <a:ext cx="8412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393192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" y="4114800"/>
            <a:ext cx="1828800" cy="502920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114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Department_Location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4023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🔑 department_code + location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68880" y="43891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multi-valued location for departments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keys enforce uniqueness across multiple columns and represent many-to-many relationship tables.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194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TWO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0" y="274320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Features</a:t>
            </a:r>
            <a:endParaRPr lang="en-US" sz="3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UI Prototype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·  Python  ·  PostgreSQL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Prototype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371600"/>
          </a:xfrm>
          <a:prstGeom prst="rect">
            <a:avLst/>
          </a:prstGeom>
          <a:solidFill>
            <a:srgbClr val="E0F7FA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interface is implemented using Streamlit to demonstrate the main system modules and workflows, including patient management, doctor management, appointments, rooms, and reports.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157276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1572768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6060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315468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Management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084832" y="2423160"/>
            <a:ext cx="157276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84832" y="2423160"/>
            <a:ext cx="1572768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616" y="26060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30552" y="315468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Management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803904" y="2423160"/>
            <a:ext cx="157276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803904" y="2423160"/>
            <a:ext cx="1572768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88" y="26060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49624" y="315468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Booking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522976" y="2423160"/>
            <a:ext cx="157276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522976" y="2423160"/>
            <a:ext cx="1572768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26060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68696" y="315468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Management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7242048" y="2423160"/>
            <a:ext cx="157276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242048" y="2423160"/>
            <a:ext cx="1572768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9832" y="260604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287768" y="315468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Generator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Python  ·  Streamlit  ·  PostgreSQL  ·  psycopg2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011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01168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058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96012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36576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50592" y="868680"/>
            <a:ext cx="2011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450592" y="868680"/>
            <a:ext cx="201168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10058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90672" y="96012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2542032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626864" y="868680"/>
            <a:ext cx="2011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626864" y="868680"/>
            <a:ext cx="201168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10058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66944" y="96012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4718304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803136" y="868680"/>
            <a:ext cx="2011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803136" y="868680"/>
            <a:ext cx="2011680" cy="731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296" y="100584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43216" y="96012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24" name="Text 18"/>
          <p:cNvSpPr/>
          <p:nvPr/>
        </p:nvSpPr>
        <p:spPr>
          <a:xfrm>
            <a:off x="6894576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Rooms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274320" y="2286000"/>
            <a:ext cx="8595360" cy="292608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457200" y="2304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Sample data for presentation/demo purposes only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274320" y="2697480"/>
            <a:ext cx="1828800" cy="22860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36576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0040" y="3108960"/>
            <a:ext cx="1691640" cy="274320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411480" y="3108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320040" y="3410712"/>
            <a:ext cx="1691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411480" y="34107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Patients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320040" y="3712464"/>
            <a:ext cx="1691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411480" y="371246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👨‍⚕️ Doctors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320040" y="4014216"/>
            <a:ext cx="1691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411480" y="401421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Appointments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320040" y="4315968"/>
            <a:ext cx="1691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411480" y="43159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Rooms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320040" y="4617720"/>
            <a:ext cx="1691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411480" y="4617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Reports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2377440" y="2697480"/>
            <a:ext cx="64922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2514600" y="27432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1300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600" y="3200400"/>
            <a:ext cx="256032" cy="256032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2880360" y="32004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statistics overview</a:t>
            </a:r>
            <a:endParaRPr lang="en-US" sz="1100" dirty="0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600" y="3611880"/>
            <a:ext cx="256032" cy="256032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2880360" y="36118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to all management modules</a:t>
            </a:r>
            <a:endParaRPr lang="en-US" sz="1100" dirty="0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600" y="4023360"/>
            <a:ext cx="256032" cy="256032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2880360" y="40233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access to reports</a:t>
            </a:r>
            <a:endParaRPr lang="en-US" sz="1100" dirty="0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600" y="4434840"/>
            <a:ext cx="256032" cy="256032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2880360" y="44348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status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Booking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943600" cy="402336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B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5943600" cy="274320"/>
          </a:xfrm>
          <a:prstGeom prst="rect">
            <a:avLst/>
          </a:prstGeom>
          <a:solidFill>
            <a:srgbClr val="E0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88696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" y="88696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22376" y="88696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5943600" cy="3749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475488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Management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0" y="868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Features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0" y="1261872"/>
            <a:ext cx="2514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00800" y="1261872"/>
            <a:ext cx="45720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10528" y="1261872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patients with patient_number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00800" y="1947672"/>
            <a:ext cx="2514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00800" y="1947672"/>
            <a:ext cx="45720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10528" y="1947672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patient records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400800" y="2633472"/>
            <a:ext cx="2514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00800" y="2633472"/>
            <a:ext cx="45720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10528" y="2633472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patient by patient_number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400800" y="3319272"/>
            <a:ext cx="2514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400800" y="3319272"/>
            <a:ext cx="45720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510528" y="3319272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condition tracking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400800" y="4005072"/>
            <a:ext cx="2514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400800" y="4005072"/>
            <a:ext cx="45720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510528" y="4005072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appointments &amp; surgery cases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Management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943600" cy="402336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B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5943600" cy="274320"/>
          </a:xfrm>
          <a:prstGeom prst="rect">
            <a:avLst/>
          </a:prstGeom>
          <a:solidFill>
            <a:srgbClr val="E0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88696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" y="88696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22376" y="88696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5943600" cy="3749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475488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Management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0" y="868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Features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0" y="1261872"/>
            <a:ext cx="2514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00800" y="1261872"/>
            <a:ext cx="45720" cy="5669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10528" y="1261872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doctors with doctor_id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00800" y="1947672"/>
            <a:ext cx="2514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00800" y="1947672"/>
            <a:ext cx="45720" cy="5669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10528" y="1947672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doctor profiles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400800" y="2633472"/>
            <a:ext cx="2514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00800" y="2633472"/>
            <a:ext cx="45720" cy="5669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10528" y="2633472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doctor records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400800" y="3319272"/>
            <a:ext cx="2514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400800" y="3319272"/>
            <a:ext cx="45720" cy="5669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510528" y="3319272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tracking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400800" y="4005072"/>
            <a:ext cx="2514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400800" y="4005072"/>
            <a:ext cx="45720" cy="5669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510528" y="4005072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assignment via department_code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Management 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943600" cy="402336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B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5943600" cy="274320"/>
          </a:xfrm>
          <a:prstGeom prst="rect">
            <a:avLst/>
          </a:prstGeom>
          <a:solidFill>
            <a:srgbClr val="E0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88696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" y="88696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22376" y="88696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5943600" cy="3749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475488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Booking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0" y="868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Features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0" y="1261872"/>
            <a:ext cx="2514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00800" y="1261872"/>
            <a:ext cx="45720" cy="5669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10528" y="1261872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appointments with patient_number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00800" y="1947672"/>
            <a:ext cx="2514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00800" y="1947672"/>
            <a:ext cx="45720" cy="5669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10528" y="1947672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appointment: patient + doctor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400800" y="2633472"/>
            <a:ext cx="2514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00800" y="2633472"/>
            <a:ext cx="45720" cy="5669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10528" y="2633472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appointment by appointment_id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400800" y="3319272"/>
            <a:ext cx="2514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400800" y="3319272"/>
            <a:ext cx="45720" cy="5669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510528" y="3319272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Surgery_Case via case_id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400800" y="4005072"/>
            <a:ext cx="2514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400800" y="4005072"/>
            <a:ext cx="45720" cy="5669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510528" y="4005072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tracking integration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Management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943600" cy="402336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B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5943600" cy="274320"/>
          </a:xfrm>
          <a:prstGeom prst="rect">
            <a:avLst/>
          </a:prstGeom>
          <a:solidFill>
            <a:srgbClr val="E0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88696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" y="88696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22376" y="88696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5943600" cy="3749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475488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Management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0" y="868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Features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0" y="1261872"/>
            <a:ext cx="2514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00800" y="1261872"/>
            <a:ext cx="45720" cy="56692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10528" y="1261872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rooms with room_id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00800" y="1947672"/>
            <a:ext cx="2514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00800" y="1947672"/>
            <a:ext cx="45720" cy="56692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10528" y="1947672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Operating / Recovery rooms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400800" y="2633472"/>
            <a:ext cx="2514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00800" y="2633472"/>
            <a:ext cx="45720" cy="56692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10528" y="2633472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rooms by room_id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400800" y="3319272"/>
            <a:ext cx="2514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400800" y="3319272"/>
            <a:ext cx="45720" cy="56692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510528" y="3319272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 classification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400800" y="4005072"/>
            <a:ext cx="2514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400800" y="4005072"/>
            <a:ext cx="45720" cy="56692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510528" y="4005072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status tracking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Generator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943600" cy="402336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B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5943600" cy="274320"/>
          </a:xfrm>
          <a:prstGeom prst="rect">
            <a:avLst/>
          </a:prstGeom>
          <a:solidFill>
            <a:srgbClr val="E0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88696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" y="88696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22376" y="88696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5943600" cy="3749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475488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Analytics Preview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0" y="868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Analytics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0" y="1261872"/>
            <a:ext cx="2514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46520" y="1298448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223760" y="138988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0" y="2084832"/>
            <a:ext cx="2514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46520" y="2121408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223760" y="221284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0" y="2907792"/>
            <a:ext cx="2514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46520" y="2944368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7223760" y="30358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0" y="3730752"/>
            <a:ext cx="2514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46520" y="3767328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7223760" y="38587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Rooms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0" y="4617720"/>
            <a:ext cx="2514600" cy="32004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400800" y="46360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Sample data only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54864" cy="8229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6984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9144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M:N Relationships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26280" y="1097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754880" y="86868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86868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06984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91440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tables (Treats, Prescription_Medication, Surgical_Team_Assignment) with composite primary keys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4320" y="1892808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274320" y="1892808"/>
            <a:ext cx="54864" cy="8229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093976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7240" y="193852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Key Naming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526280" y="21214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4754880" y="1892808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754880" y="1892808"/>
            <a:ext cx="54864" cy="8229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093976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66360" y="1938528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patient_number (not patient_id) and department_code (not dept_id) to match real schema requirements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274320" y="2916936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274320" y="2916936"/>
            <a:ext cx="54864" cy="8229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118104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77240" y="2962656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Scheduling Conflicts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4526280" y="314553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1"/>
          <p:cNvSpPr/>
          <p:nvPr/>
        </p:nvSpPr>
        <p:spPr>
          <a:xfrm>
            <a:off x="4754880" y="2916936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4754880" y="2916936"/>
            <a:ext cx="54864" cy="8229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118104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166360" y="2962656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availability tracked via Surgery_Schedule with case_id and room_id foreign keys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274320" y="3941064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274320" y="3941064"/>
            <a:ext cx="54864" cy="8229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142232"/>
            <a:ext cx="320040" cy="32004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77240" y="3986784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vs Production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4526280" y="416966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Shape 28"/>
          <p:cNvSpPr/>
          <p:nvPr/>
        </p:nvSpPr>
        <p:spPr>
          <a:xfrm>
            <a:off x="4754880" y="3941064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29"/>
          <p:cNvSpPr/>
          <p:nvPr/>
        </p:nvSpPr>
        <p:spPr>
          <a:xfrm>
            <a:off x="4754880" y="3941064"/>
            <a:ext cx="54864" cy="82296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4142232"/>
            <a:ext cx="320040" cy="32004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5166360" y="3986784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used for rapid demo; full system designed for PostgreSQL backend with proper FK constraints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solidFill>
            <a:srgbClr val="E0F7FA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896112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demonstrates the full lifecycle of database-driven application development — from conceptual ERD design through relational schema mapping, SQL implementation, and Streamlit prototype delivery.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8595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99339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1920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patient &amp; doctor data modelling with correct key naming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74320" y="2514600"/>
            <a:ext cx="85953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74320" y="2514600"/>
            <a:ext cx="54864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5877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" y="2514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room scheduling and surgical team coordination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74320" y="3108960"/>
            <a:ext cx="8595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274320" y="3108960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18211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9808" y="3108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with user authentication (Users table, user_id PK)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274320" y="3703320"/>
            <a:ext cx="85953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274320" y="3703320"/>
            <a:ext cx="54864" cy="5029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77647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703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appointment booking with Payment management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274320" y="4297680"/>
            <a:ext cx="8595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274320" y="4297680"/>
            <a:ext cx="54864" cy="5029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4370832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9808" y="42976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analytics dashboard for hospital administration reporting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103120"/>
            <a:ext cx="9144000" cy="54864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92024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0" y="2788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42062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Maryam Ali  ·  Gehad Maher  ·  Raneem Khaled  ·  Ahmed Hany  ·  Tasnim Maged</a:t>
            </a:r>
            <a:endParaRPr lang="en-US" sz="1200" dirty="0"/>
          </a:p>
        </p:txBody>
      </p:sp>
      <p:sp>
        <p:nvSpPr>
          <p:cNvPr id="8" name="Text 5">
            <a:hlinkClick r:id="rId4"/>
          </p:cNvPr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u="sng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github.com/Raneem30/Surgery-department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1128</Words>
  <Application>Microsoft Office PowerPoint</Application>
  <PresentationFormat>On-screen Show (16:9)</PresentationFormat>
  <Paragraphs>260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Information System – Surgery Department</dc:title>
  <dc:subject>PptxGenJS Presentation</dc:subject>
  <dc:creator>PptxGenJS</dc:creator>
  <cp:lastModifiedBy>maryam abdulhamed</cp:lastModifiedBy>
  <cp:revision>3</cp:revision>
  <dcterms:created xsi:type="dcterms:W3CDTF">2026-05-20T02:52:56Z</dcterms:created>
  <dcterms:modified xsi:type="dcterms:W3CDTF">2026-05-20T04:14:28Z</dcterms:modified>
</cp:coreProperties>
</file>